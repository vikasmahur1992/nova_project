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$1 marketing</c:v>
                </c:pt>
              </c:strCache>
            </c:strRef>
          </c:tx>
          <c:spPr>
            <a:solidFill>
              <a:srgbClr val="1AA6A6"/>
            </a:solidFill>
            <a:effectLst/>
          </c:spPr>
          <c:invertIfNegative val="0"/>
          <c:dLbls>
            <c:numFmt formatCode="0.0x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APAC</c:v>
                  </c:pt>
                  <c:pt idx="3">
                    <c:v>Latin America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13.676470588235293</c:v>
                </c:pt>
                <c:pt idx="1">
                  <c:v>13.8</c:v>
                </c:pt>
                <c:pt idx="2">
                  <c:v>13.75</c:v>
                </c:pt>
                <c:pt idx="3">
                  <c:v>10.76923076923077</c:v>
                </c:pt>
              </c:numCache>
            </c:numRef>
          </c:val>
        </c:ser>
        <c:dLbls>
          <c:numFmt formatCode="0.0x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/ marketing spend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CSAT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CSAT %</c:v>
                </c:pt>
              </c:strCache>
            </c:strRef>
          </c:tx>
          <c:spPr>
            <a:solidFill>
              <a:srgbClr val="2C8C6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APAC</c:v>
                  </c:pt>
                  <c:pt idx="3">
                    <c:v>Latin America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88</c:v>
                </c:pt>
                <c:pt idx="2">
                  <c:v>92</c:v>
                </c:pt>
                <c:pt idx="3">
                  <c:v>74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Support tickets (K)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 Tickets (K)</c:v>
                </c:pt>
              </c:strCache>
            </c:strRef>
          </c:tx>
          <c:spPr>
            <a:solidFill>
              <a:srgbClr val="E08B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APAC</c:v>
                  </c:pt>
                  <c:pt idx="3">
                    <c:v>Latin America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14</c:v>
                </c:pt>
                <c:pt idx="2">
                  <c:v>11</c:v>
                </c:pt>
                <c:pt idx="3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processing days</c:v>
                </c:pt>
              </c:strCache>
            </c:strRef>
          </c:tx>
          <c:spPr>
            <a:solidFill>
              <a:srgbClr val="2F6D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APAC</c:v>
                  </c:pt>
                  <c:pt idx="3">
                    <c:v>Latin America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Fraud incidents</c:v>
                </c:pt>
              </c:strCache>
            </c:strRef>
          </c:tx>
          <c:spPr>
            <a:solidFill>
              <a:srgbClr val="C747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APAC</c:v>
                  </c:pt>
                  <c:pt idx="3">
                    <c:v>Latin America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</c:v>
                </c:pt>
                <c:pt idx="1">
                  <c:v>11</c:v>
                </c:pt>
                <c:pt idx="2">
                  <c:v>10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6539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NovaRetail Quarterly Business Review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018520" y="65653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2026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9144"/>
          </a:xfrm>
          <a:prstGeom prst="line">
            <a:avLst/>
          </a:prstGeom>
          <a:noFill/>
          <a:ln w="6350">
            <a:solidFill>
              <a:srgbClr val="D8DC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NovaRetail — Quarterly Business Review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D8"/>
                </a:solidFill>
              </a:rPr>
              <a:t>Q2 2026 • Executive KPI Review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3063240" cy="932688"/>
          </a:xfrm>
          <a:prstGeom prst="roundRect">
            <a:avLst>
              <a:gd name="adj" fmla="val 4902"/>
            </a:avLst>
          </a:prstGeom>
          <a:solidFill>
            <a:srgbClr val="141B49"/>
          </a:solidFill>
          <a:ln w="12700">
            <a:solidFill>
              <a:srgbClr val="141B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5910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A6A6"/>
                </a:solidFill>
              </a:rPr>
              <a:t>3.25M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76656" y="1993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9C2E1"/>
                </a:solidFill>
              </a:rPr>
              <a:t>Q2 Units Sold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968496" y="1389888"/>
            <a:ext cx="3063240" cy="932688"/>
          </a:xfrm>
          <a:prstGeom prst="roundRect">
            <a:avLst>
              <a:gd name="adj" fmla="val 4902"/>
            </a:avLst>
          </a:prstGeom>
          <a:solidFill>
            <a:srgbClr val="141B49"/>
          </a:solidFill>
          <a:ln w="12700">
            <a:solidFill>
              <a:srgbClr val="141B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78224" y="15910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A6A6"/>
                </a:solidFill>
              </a:rPr>
              <a:t>$13.33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078224" y="1993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9C2E1"/>
                </a:solidFill>
              </a:rPr>
              <a:t>Revenue per $1 Marketing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370064" y="1389888"/>
            <a:ext cx="3063240" cy="932688"/>
          </a:xfrm>
          <a:prstGeom prst="roundRect">
            <a:avLst>
              <a:gd name="adj" fmla="val 4902"/>
            </a:avLst>
          </a:prstGeom>
          <a:solidFill>
            <a:srgbClr val="141B49"/>
          </a:solidFill>
          <a:ln w="12700">
            <a:solidFill>
              <a:srgbClr val="141B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15910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A6A6"/>
                </a:solidFill>
              </a:rPr>
              <a:t>64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79792" y="19933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9C2E1"/>
                </a:solidFill>
              </a:rPr>
              <a:t>Fraud Incidents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6928" y="26334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8FA1DB"/>
                </a:solidFill>
              </a:rPr>
              <a:t>EXECUTIVE SUMMARY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66928" y="2971800"/>
            <a:ext cx="85496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Q2 volume reached 3.25M units, up 2.8% quarter over quarter, while revenue grew 4.5%. Marketing spend increased to $96M, but productivity remained uneven by region. APAC pairs strong demand with 92% warehouse utilization, while Latin America combines falling volume, 74% CSAT, 10-day return processing and 30 fraud incidents.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29800" y="3218688"/>
            <a:ext cx="777240" cy="777240"/>
          </a:xfrm>
          <a:prstGeom prst="ellipse">
            <a:avLst/>
          </a:prstGeom>
          <a:solidFill>
            <a:srgbClr val="202A63"/>
          </a:solidFill>
          <a:ln w="12700">
            <a:solidFill>
              <a:srgbClr val="202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33832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65379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1DB"/>
                </a:solidFill>
              </a:rPr>
              <a:t>NovaRetail Quarterly Business Review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 Growth Improves, but Marketing Productivity Splits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75895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Q2 2026 regional commercial efficiency</a:t>
            </a:r>
            <a:endParaRPr lang="en-US" sz="8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58368" y="1234440"/>
          <a:ext cx="72694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458200" y="1234440"/>
            <a:ext cx="310896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North America sold 1.12M units and remained the largest volume market in Q2.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Europe delivered the strongest marketing productivity at $13.8 revenue per $1 spent.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APAC reached 860K units, up 7.5% quarter over quarter, while sustaining $13.8 revenue per $1 spent.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Latin America productivity fell to $10.8 revenue per $1, alongside a 7.1% quarterly volume decline.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646920" y="5166360"/>
            <a:ext cx="777240" cy="777240"/>
          </a:xfrm>
          <a:prstGeom prst="ellipse">
            <a:avLst/>
          </a:prstGeom>
          <a:solidFill>
            <a:srgbClr val="202A63"/>
          </a:solidFill>
          <a:ln w="12700">
            <a:solidFill>
              <a:srgbClr val="202A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0" y="53309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Performance Diverges Across Regions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75895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Q2 2026 customer experience and service demand</a:t>
            </a:r>
            <a:endParaRPr lang="en-US" sz="8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207008"/>
          <a:ext cx="37947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315968" y="1207008"/>
          <a:ext cx="3657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8458200" y="1234440"/>
            <a:ext cx="310896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APAC leads at 92% CSAT with the fastest delivery time, 2.2 days.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North America and Europe remain stable at 89% and 88% CSAT, with 18K and 14K tickets.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Latin America fell to 74% CSAT as delivery time rose to 7.5 days.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Latin America generated 31K support tickets, 42% of the Q2 total.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9646920" y="5166360"/>
            <a:ext cx="777240" cy="777240"/>
          </a:xfrm>
          <a:prstGeom prst="ellipse">
            <a:avLst/>
          </a:prstGeom>
          <a:solidFill>
            <a:srgbClr val="202A63"/>
          </a:solidFill>
          <a:ln w="12700">
            <a:solidFill>
              <a:srgbClr val="202A6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692640" y="53309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★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Returns Processing and Fraud Define the Risk Gap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75895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Q2 2026 operational control indicators</a:t>
            </a:r>
            <a:endParaRPr lang="en-US" sz="8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58368" y="123444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458200" y="1234440"/>
            <a:ext cx="310896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Latin America has the slowest returns cycle at 10 days and the highest fraud count at 30.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Fraud incidents in Latin America increased from 18 to 30 across the four-quarter period.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APAC return processing remains controlled at 4 days, but warehouse utilization reached 92%.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6213E"/>
                </a:solidFill>
              </a:rPr>
              <a:t>North America and Europe operate at 4–5 return-processing days with 13 and 11 fraud incidents.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646920" y="5166360"/>
            <a:ext cx="777240" cy="777240"/>
          </a:xfrm>
          <a:prstGeom prst="ellipse">
            <a:avLst/>
          </a:prstGeom>
          <a:solidFill>
            <a:srgbClr val="202A63"/>
          </a:solidFill>
          <a:ln w="12700">
            <a:solidFill>
              <a:srgbClr val="202A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0" y="53309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0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Recommended Actions &amp; Next Steps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1362456"/>
            <a:ext cx="210312" cy="210312"/>
          </a:xfrm>
          <a:prstGeom prst="ellipse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3258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PROTECT APAC CAPACITY  •  Add overflow capacity and define a durable expansion trigger before utilization constrains service.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2276856"/>
            <a:ext cx="210312" cy="210312"/>
          </a:xfrm>
          <a:prstGeom prst="ellipse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2402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RECOVER LATIN AMERICA SERVICE  •  Set a 90-day plan to reduce delivery time, support tickets and return-processing days.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191256"/>
            <a:ext cx="210312" cy="210312"/>
          </a:xfrm>
          <a:prstGeom prst="ellipse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31546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STRENGTHEN FRAUD CONTROLS  •  Prioritize monitoring and exception review in Latin America, where incidents reached 30.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4105656"/>
            <a:ext cx="210312" cy="210312"/>
          </a:xfrm>
          <a:prstGeom prst="ellipse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4069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REBALANCE MARKETING  •  Shift incremental spend toward regions sustaining stronger revenue-per-dollar productivity.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5349240"/>
            <a:ext cx="9692640" cy="9144"/>
          </a:xfrm>
          <a:prstGeom prst="line">
            <a:avLst/>
          </a:prstGeom>
          <a:noFill/>
          <a:ln w="12700">
            <a:solidFill>
              <a:srgbClr val="6C78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321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Sustain commercial momentum while closing the service and control gap in Latin America.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469880" y="2468880"/>
            <a:ext cx="777240" cy="777240"/>
          </a:xfrm>
          <a:prstGeom prst="ellipse">
            <a:avLst/>
          </a:prstGeom>
          <a:solidFill>
            <a:srgbClr val="202A63"/>
          </a:solidFill>
          <a:ln w="12700">
            <a:solidFill>
              <a:srgbClr val="202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0" y="26334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" y="65379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1DB"/>
                </a:solidFill>
              </a:rPr>
              <a:t>NovaRetail Quarterly Business Review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6b25ea0-4570-44a6-87f5-dc0e92066634}" enabled="1" method="Privileged" siteId="{0483ae51-a627-466e-a7dd-de2ac7e1238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NovaRetail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NovaRetail Q2 2026 Executive KPI Review</dc:title>
  <dc:subject>NovaRetail Q2 2026 Executive KPI Review</dc:subject>
  <dc:creator>Vikas Mahur</dc:creator>
  <lastModifiedBy>Vikas Mahur</lastModifiedBy>
  <revision>1</revision>
  <dcterms:created xsi:type="dcterms:W3CDTF">2026-10-14T09:38:25.8352363Z</dcterms:created>
  <dcterms:modified xsi:type="dcterms:W3CDTF">2026-10-14T09:38:25.8352363Z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